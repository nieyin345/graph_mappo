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98" r:id="rId2"/>
  </p:sldMasterIdLst>
  <p:notesMasterIdLst>
    <p:notesMasterId r:id="rId24"/>
  </p:notesMasterIdLst>
  <p:handoutMasterIdLst>
    <p:handoutMasterId r:id="rId25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9"/>
    <p:sldId id="271" r:id="rId8"/>
    <p:sldId id="272" r:id="rId7"/>
    <p:sldId id="273" r:id="rId6"/>
    <p:sldId id="274" r:id="rId5"/>
    <p:sldId id="275" r:id="rId4"/>
    <p:sldId id="276" r:id="rId3"/>
    <p:sldId id="277" r:id="rId31"/>
    <p:sldId id="278" r:id="rId32"/>
    <p:sldId id="279" r:id="rId33"/>
    <p:sldId id="280" r:id="rId3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F58"/>
    <a:srgbClr val="01527F"/>
    <a:srgbClr val="011C27"/>
    <a:srgbClr val="FCF7DA"/>
    <a:srgbClr val="DF2123"/>
    <a:srgbClr val="F49E00"/>
    <a:srgbClr val="425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6" autoAdjust="0"/>
    <p:restoredTop sz="96271"/>
  </p:normalViewPr>
  <p:slideViewPr>
    <p:cSldViewPr snapToGrid="0" snapToObjects="1">
      <p:cViewPr>
        <p:scale>
          <a:sx n="75" d="100"/>
          <a:sy n="75" d="100"/>
        </p:scale>
        <p:origin x="1710" y="8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6" d="100"/>
        <a:sy n="19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21.xml"/><Relationship Id="rId4" Type="http://schemas.openxmlformats.org/officeDocument/2006/relationships/slide" Target="slides/slide20.xml"/><Relationship Id="rId5" Type="http://schemas.openxmlformats.org/officeDocument/2006/relationships/slide" Target="slides/slide19.xml"/><Relationship Id="rId6" Type="http://schemas.openxmlformats.org/officeDocument/2006/relationships/slide" Target="slides/slide18.xml"/><Relationship Id="rId7" Type="http://schemas.openxmlformats.org/officeDocument/2006/relationships/slide" Target="slides/slide17.xml"/><Relationship Id="rId8" Type="http://schemas.openxmlformats.org/officeDocument/2006/relationships/slide" Target="slides/slide16.xml"/><Relationship Id="rId9" Type="http://schemas.openxmlformats.org/officeDocument/2006/relationships/slide" Target="slides/slide1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tags" Target="tags/tag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  <a:t>2023/7/21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3708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  <a:t>2023/7/21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10789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hangye/" TargetMode="Externa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 userDrawn="1"/>
        </p:nvSpPr>
        <p:spPr>
          <a:xfrm>
            <a:off x="-1251391" y="-411145"/>
            <a:ext cx="1619148" cy="1217525"/>
          </a:xfrm>
          <a:prstGeom prst="roundRect">
            <a:avLst>
              <a:gd name="adj" fmla="val 14907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0" name="圆角矩形 9"/>
          <p:cNvSpPr/>
          <p:nvPr userDrawn="1"/>
        </p:nvSpPr>
        <p:spPr>
          <a:xfrm>
            <a:off x="-580937" y="-335230"/>
            <a:ext cx="1324516" cy="714803"/>
          </a:xfrm>
          <a:prstGeom prst="roundRect">
            <a:avLst>
              <a:gd name="adj" fmla="val 2314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280387" y="292506"/>
            <a:ext cx="174134" cy="17413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8099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7825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2994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796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9691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481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4249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6404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407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1205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1277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0412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2750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1658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2821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4919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725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810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3908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4220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3450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3609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7035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458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8425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3560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7167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2948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063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816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4663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2358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558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2141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6153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1118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1567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7628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2566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7226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6776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208357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9401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5080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2023/7/21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545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2023/7/21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5878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3669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51" r:id="rId47"/>
    <p:sldLayoutId id="2147483652" r:id="rId48"/>
    <p:sldLayoutId id="2147483653" r:id="rId49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60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4505840" y="4161938"/>
            <a:ext cx="3543300" cy="39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99773" y="341832"/>
            <a:ext cx="11027450" cy="6072659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08327" y="2292704"/>
            <a:ext cx="3138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 sz="15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QKD-SAGIN 天地一体化网络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84665" y="2669123"/>
            <a:ext cx="45856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5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生产端调度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83125" y="4192905"/>
            <a:ext cx="3190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组会进展汇报 · 2026-09-16</a:t>
            </a:r>
          </a:p>
        </p:txBody>
      </p:sp>
      <p:sp>
        <p:nvSpPr>
          <p:cNvPr id="16" name="圆角矩形 15"/>
          <p:cNvSpPr/>
          <p:nvPr/>
        </p:nvSpPr>
        <p:spPr>
          <a:xfrm flipV="1">
            <a:off x="-115541" y="-407846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 flipV="1">
            <a:off x="423127" y="1473120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889914" y="5146184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450577" y="4969538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5056822" y="2161376"/>
            <a:ext cx="1941836" cy="39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-1199204" y="5818701"/>
            <a:ext cx="4253122" cy="6909975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67213" y="1140741"/>
            <a:ext cx="194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20111" y="2182158"/>
            <a:ext cx="1816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600" b="1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kumimoji="1" lang="zh-CN" altLang="en-US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-1668544" y="4484000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049234" y="5642055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36160" y="2695070"/>
            <a:ext cx="3159839" cy="20835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场景与任务定义</a:t>
            </a:r>
            <a:endParaRPr kumimoji="1"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信道建模与速率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325379" y="2695069"/>
            <a:ext cx="3159839" cy="20835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算法与模型设计</a:t>
            </a:r>
            <a:endParaRPr kumimoji="1"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结果与现存问题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009377" y="3571932"/>
            <a:ext cx="3013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三层 FSO 网络场景、关键定义与双端口约束下的决策任务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009376" y="4654530"/>
            <a:ext cx="3013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链路速率生成链路、协议模型与可用性判定（本部分待补充）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806450" y="3571932"/>
            <a:ext cx="3013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BFS 需求扩散启发式与 Graph-MAPPO 强化学习，重点在全局匹配动作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806449" y="4654530"/>
            <a:ext cx="3013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各算法成功率对比，以及强化学习全局训练停滞的现状与诊断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9237787" y="-5787377"/>
            <a:ext cx="4253122" cy="6909975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0089391" y="221629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9912745" y="988993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3943443" y="2715766"/>
            <a:ext cx="623279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场景分析与任务定义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952959" y="3789962"/>
            <a:ext cx="6192981" cy="5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QKD-SAGIN 三层 FSO 网络 / 关键定义 / 双端口约束下的决策任务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288535" y="2772323"/>
            <a:ext cx="1040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99773" y="341832"/>
            <a:ext cx="11027450" cy="6072659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9" name="圆角矩形 18"/>
          <p:cNvSpPr/>
          <p:nvPr/>
        </p:nvSpPr>
        <p:spPr>
          <a:xfrm flipV="1">
            <a:off x="-115541" y="-407846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 flipV="1">
            <a:off x="423127" y="1473120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889914" y="5146184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450577" y="4969538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场景：QKD-SAGIN 三层 FSO 网络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第一部分 · 场景分析与任务定义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917999"/>
            <a:ext cx="108252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微软雅黑"/>
              </a:rPr>
              <a:t>天地一体化量子密钥分发网络：30 个地面站（GS）、30 个高空平台（HAP）、30 颗卫星（SAT）构成三层光网络，共 1978 条候选物理链路；地面站之间不断产生有密钥需求的通信请求。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774800"/>
            <a:ext cx="1224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1A1A"/>
                </a:solidFill>
                <a:latin typeface="微软雅黑"/>
              </a:rPr>
              <a:t>卫星 SAT ×30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3070800"/>
            <a:ext cx="1224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1A1A"/>
                </a:solidFill>
                <a:latin typeface="微软雅黑"/>
              </a:rPr>
              <a:t>高空平台 HAP ×30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4366800"/>
            <a:ext cx="1224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1A1A"/>
                </a:solidFill>
                <a:latin typeface="微软雅黑"/>
              </a:rPr>
              <a:t>地面站 GS ×30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8000" y="1565999"/>
            <a:ext cx="9601200" cy="7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908000" y="2861999"/>
            <a:ext cx="9601200" cy="7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908000" y="4157999"/>
            <a:ext cx="9601200" cy="7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1980000" y="2133000"/>
            <a:ext cx="0" cy="88200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80000" y="3428999"/>
            <a:ext cx="0" cy="882001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85840" y="2133000"/>
            <a:ext cx="0" cy="88200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85840" y="3428999"/>
            <a:ext cx="0" cy="882001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91680" y="2133000"/>
            <a:ext cx="0" cy="88200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91680" y="3428999"/>
            <a:ext cx="0" cy="882001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97519" y="2133000"/>
            <a:ext cx="0" cy="88200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97519" y="3428999"/>
            <a:ext cx="0" cy="882001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3360" y="2133000"/>
            <a:ext cx="0" cy="88200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03360" y="3428999"/>
            <a:ext cx="0" cy="882001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509200" y="2133000"/>
            <a:ext cx="0" cy="88200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09200" y="3428999"/>
            <a:ext cx="0" cy="882001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87000" y="1925999"/>
            <a:ext cx="14918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092840" y="1925999"/>
            <a:ext cx="14918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98680" y="1925999"/>
            <a:ext cx="1491839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904519" y="1925999"/>
            <a:ext cx="1491841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10360" y="1925999"/>
            <a:ext cx="14918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980000" y="2133000"/>
            <a:ext cx="3811680" cy="217800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791680" y="2133000"/>
            <a:ext cx="3811680" cy="217800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509200" y="2133000"/>
            <a:ext cx="0" cy="217800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80000" y="4724999"/>
            <a:ext cx="5717519" cy="585001"/>
          </a:xfrm>
          <a:prstGeom prst="line">
            <a:avLst/>
          </a:prstGeom>
          <a:ln w="9525">
            <a:solidFill>
              <a:srgbClr val="B3B3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697519" y="4724999"/>
            <a:ext cx="0" cy="585001"/>
          </a:xfrm>
          <a:prstGeom prst="line">
            <a:avLst/>
          </a:prstGeom>
          <a:ln w="9525">
            <a:solidFill>
              <a:srgbClr val="B3B3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85840" y="4724999"/>
            <a:ext cx="5717520" cy="585001"/>
          </a:xfrm>
          <a:prstGeom prst="line">
            <a:avLst/>
          </a:prstGeom>
          <a:ln w="9525">
            <a:solidFill>
              <a:srgbClr val="B3B3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603360" y="4724999"/>
            <a:ext cx="0" cy="585001"/>
          </a:xfrm>
          <a:prstGeom prst="line">
            <a:avLst/>
          </a:prstGeom>
          <a:ln w="9525">
            <a:solidFill>
              <a:srgbClr val="B3B3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791680" y="4724999"/>
            <a:ext cx="5717520" cy="585001"/>
          </a:xfrm>
          <a:prstGeom prst="line">
            <a:avLst/>
          </a:prstGeom>
          <a:ln w="9525">
            <a:solidFill>
              <a:srgbClr val="B3B3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509200" y="4724999"/>
            <a:ext cx="0" cy="585001"/>
          </a:xfrm>
          <a:prstGeom prst="line">
            <a:avLst/>
          </a:prstGeom>
          <a:ln w="9525">
            <a:solidFill>
              <a:srgbClr val="B3B3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97519" y="4724999"/>
            <a:ext cx="3811681" cy="585001"/>
          </a:xfrm>
          <a:prstGeom prst="line">
            <a:avLst/>
          </a:prstGeom>
          <a:ln w="9525">
            <a:solidFill>
              <a:srgbClr val="B3B3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509200" y="4724999"/>
            <a:ext cx="0" cy="585001"/>
          </a:xfrm>
          <a:prstGeom prst="line">
            <a:avLst/>
          </a:prstGeom>
          <a:ln w="9525">
            <a:solidFill>
              <a:srgbClr val="B3B3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773000" y="1718999"/>
            <a:ext cx="413999" cy="413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773000" y="3015000"/>
            <a:ext cx="413999" cy="413999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773000" y="4311000"/>
            <a:ext cx="413999" cy="413999"/>
          </a:xfrm>
          <a:prstGeom prst="ellipse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678840" y="1718999"/>
            <a:ext cx="413999" cy="413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78840" y="3015000"/>
            <a:ext cx="413999" cy="413999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678840" y="4311000"/>
            <a:ext cx="413999" cy="413999"/>
          </a:xfrm>
          <a:prstGeom prst="ellipse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84680" y="1718999"/>
            <a:ext cx="413999" cy="413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584680" y="3015000"/>
            <a:ext cx="413999" cy="413999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84680" y="4311000"/>
            <a:ext cx="413999" cy="413999"/>
          </a:xfrm>
          <a:prstGeom prst="ellipse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90519" y="1718999"/>
            <a:ext cx="413999" cy="413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490519" y="3015000"/>
            <a:ext cx="413999" cy="413999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90519" y="4311000"/>
            <a:ext cx="413999" cy="413999"/>
          </a:xfrm>
          <a:prstGeom prst="ellipse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396360" y="1718999"/>
            <a:ext cx="413999" cy="413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396360" y="3015000"/>
            <a:ext cx="413999" cy="413999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396360" y="4311000"/>
            <a:ext cx="413999" cy="413999"/>
          </a:xfrm>
          <a:prstGeom prst="ellipse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302200" y="1718999"/>
            <a:ext cx="413999" cy="413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302200" y="3015000"/>
            <a:ext cx="413999" cy="413999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02200" y="4311000"/>
            <a:ext cx="413999" cy="413999"/>
          </a:xfrm>
          <a:prstGeom prst="ellipse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91999" y="5634000"/>
            <a:ext cx="396001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260000" y="5540400"/>
            <a:ext cx="16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33333"/>
                </a:solidFill>
                <a:latin typeface="微软雅黑"/>
              </a:rPr>
              <a:t>GS-HAP 物理链路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934000" y="5634000"/>
            <a:ext cx="39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402000" y="5540400"/>
            <a:ext cx="16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33333"/>
                </a:solidFill>
                <a:latin typeface="微软雅黑"/>
              </a:rPr>
              <a:t>HAP-SAT 物理链路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76000" y="5634000"/>
            <a:ext cx="396000" cy="0"/>
          </a:xfrm>
          <a:prstGeom prst="line">
            <a:avLst/>
          </a:prstGeom>
          <a:ln w="15875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544000" y="5540400"/>
            <a:ext cx="16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33333"/>
                </a:solidFill>
                <a:latin typeface="微软雅黑"/>
              </a:rPr>
              <a:t>GS-SAT 物理链路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218000" y="5634000"/>
            <a:ext cx="39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686000" y="5540400"/>
            <a:ext cx="16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33333"/>
                </a:solidFill>
                <a:latin typeface="微软雅黑"/>
              </a:rPr>
              <a:t>SAT-SAT 物理链路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360000" y="5634000"/>
            <a:ext cx="396000" cy="0"/>
          </a:xfrm>
          <a:prstGeom prst="line">
            <a:avLst/>
          </a:prstGeom>
          <a:ln w="15875">
            <a:solidFill>
              <a:srgbClr val="B3B3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828000" y="5540400"/>
            <a:ext cx="162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33333"/>
                </a:solidFill>
                <a:latin typeface="微软雅黑"/>
              </a:rPr>
              <a:t>GS-GS 需求边（逻辑边）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4000" y="6012000"/>
            <a:ext cx="108252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08080"/>
                </a:solidFill>
                <a:latin typeface="微软雅黑"/>
              </a:rPr>
              <a:t>物理图 = 三类节点 + 四类物理链路；逻辑图 = GS-GS 需求链路。两者共享节点集合，融合为一张全局图输入策略网络。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关键定义与评价口径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第一部分 · 场景分析与任务定义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000" y="917999"/>
            <a:ext cx="2232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3200" y="961200"/>
            <a:ext cx="2073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术语</a:t>
            </a:r>
          </a:p>
        </p:txBody>
      </p:sp>
      <p:sp>
        <p:nvSpPr>
          <p:cNvPr id="9" name="Rectangle 8"/>
          <p:cNvSpPr/>
          <p:nvPr/>
        </p:nvSpPr>
        <p:spPr>
          <a:xfrm>
            <a:off x="2916000" y="917999"/>
            <a:ext cx="8593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95200" y="961200"/>
            <a:ext cx="8434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含义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" y="1278000"/>
            <a:ext cx="2232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3200" y="1321200"/>
            <a:ext cx="20736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时隙 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16000" y="1278000"/>
            <a:ext cx="85932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95200" y="1321200"/>
            <a:ext cx="84348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1 分钟。全年 525600 个时隙，状态、动作、奖励均以时隙为单位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" y="1835999"/>
            <a:ext cx="2232000" cy="55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3200" y="1879200"/>
            <a:ext cx="20736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QKP 密钥池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16000" y="1835999"/>
            <a:ext cx="8593200" cy="55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995200" y="1879200"/>
            <a:ext cx="84348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每条链路独立的密钥暂存区，有容量上限。链路生成的密钥先入池，再由路由分配去服务请求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000" y="2394000"/>
            <a:ext cx="2232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2437200"/>
            <a:ext cx="20736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请求（Request）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16000" y="2394000"/>
            <a:ext cx="85932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95200" y="2437200"/>
            <a:ext cx="84348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地面站对 (p, q) 之间的一条密钥需求，携带需求量、到达时刻、截止时间与优先级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" y="2951999"/>
            <a:ext cx="2232000" cy="55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3200" y="2995199"/>
            <a:ext cx="20736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服务成功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16000" y="2951999"/>
            <a:ext cx="8593200" cy="55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995200" y="2995199"/>
            <a:ext cx="84348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在截止时间前请求需求量被完整满足；路径受阻时按瓶颈跳部分服务，剩余量继续排队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000" y="3510000"/>
            <a:ext cx="2232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3200" y="3553199"/>
            <a:ext cx="20736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成功率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16000" y="3510000"/>
            <a:ext cx="85932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995200" y="3553199"/>
            <a:ext cx="84348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按时完成服务的请求数 / 总请求数。标准验证取 5 个种子的均值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4000" y="4068000"/>
            <a:ext cx="2232000" cy="55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63200" y="4111200"/>
            <a:ext cx="20736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切换半速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16000" y="4068000"/>
            <a:ext cx="8593200" cy="55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995200" y="4111200"/>
            <a:ext cx="84348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链路从空闲恢复激活的首个时隙，生成速率 ×0.5（rate_decay_factor）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" y="4626000"/>
            <a:ext cx="22320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3200" y="4669200"/>
            <a:ext cx="20736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双端口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16000" y="4626000"/>
            <a:ext cx="8593200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995200" y="4669200"/>
            <a:ext cx="8434800" cy="4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每个节点每时隙至多 1 条出边（Tx-out ≤ 1）与 1 条入边（Rx-in ≤ 1）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000" y="5472000"/>
            <a:ext cx="10825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08080"/>
                </a:solidFill>
                <a:latin typeface="微软雅黑"/>
              </a:rPr>
              <a:t>口径说明：成功率统一按「截止时间前完整满足的请求数 / 总请求数」统计；不同表格中的数字若协议不同（标准验证 / 固定场景）不可直接比较。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约束建模与决策任务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第一部分 · 场景分析与任务定义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000" y="946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5200" y="917999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三类硬约束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000" y="1260000"/>
            <a:ext cx="3464400" cy="10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1999" y="1350000"/>
            <a:ext cx="32484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A1A1A"/>
                </a:solidFill>
                <a:latin typeface="微软雅黑"/>
              </a:rPr>
              <a:t>Tx-out ≤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999" y="1620000"/>
            <a:ext cx="32484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每个节点每个时隙
至多激活 1 条出边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2106000"/>
            <a:ext cx="324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08080"/>
                </a:solidFill>
                <a:latin typeface="微软雅黑"/>
              </a:rPr>
              <a:t>发送端单端口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4400" y="1260000"/>
            <a:ext cx="3464400" cy="10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72400" y="1350000"/>
            <a:ext cx="32484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A1A1A"/>
                </a:solidFill>
                <a:latin typeface="微软雅黑"/>
              </a:rPr>
              <a:t>Rx-in ≤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400" y="1620000"/>
            <a:ext cx="32484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每个节点每个时隙
至多接收 1 条入边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400" y="2106000"/>
            <a:ext cx="324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08080"/>
                </a:solidFill>
                <a:latin typeface="微软雅黑"/>
              </a:rPr>
              <a:t>接收端单端口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4799" y="1260000"/>
            <a:ext cx="3464400" cy="10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52799" y="1350000"/>
            <a:ext cx="32484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A1A1A"/>
                </a:solidFill>
                <a:latin typeface="微软雅黑"/>
              </a:rPr>
              <a:t>u→v 与 v→u 互斥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2799" y="1620000"/>
            <a:ext cx="32484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同一对节点的两个方向
不能同时激活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2799" y="2106000"/>
            <a:ext cx="324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08080"/>
                </a:solidFill>
                <a:latin typeface="微软雅黑"/>
              </a:rPr>
              <a:t>避免自环冲突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000" y="2566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5200" y="2538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决策任务：每时隙输出一个全局匹配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4000" y="2862000"/>
            <a:ext cx="4680000" cy="7560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0" bIns="0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动作 = 一组互不冲突的有向弧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（每个节点至多参与一进一出，未匹配节点保持空闲）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72000" y="3240000"/>
            <a:ext cx="4680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48000" y="2862000"/>
            <a:ext cx="6037200" cy="75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55999" y="2951999"/>
            <a:ext cx="5832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其余规则：一条请求只沿一条中继路径服务；中继链路按实际转发量扣减密钥池；切换链路在首个时隙以半速生成。掩码在构图前完成，策略只在合法动作上定义。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000" y="3880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5200" y="3851999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与早期版本的差异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" y="4176000"/>
            <a:ext cx="18000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4219200"/>
            <a:ext cx="1641599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2484000" y="4176000"/>
            <a:ext cx="45000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563200" y="4219200"/>
            <a:ext cx="4341600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早期：节点独立采样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83999" y="4176000"/>
            <a:ext cx="45252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63199" y="4219200"/>
            <a:ext cx="4366800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当前：全局匹配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" y="4518000"/>
            <a:ext cx="180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3200" y="4561199"/>
            <a:ext cx="1641599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动作生成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4000" y="4518000"/>
            <a:ext cx="450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563200" y="4561199"/>
            <a:ext cx="43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每个节点独立采样一条边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3999" y="4518000"/>
            <a:ext cx="45252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3199" y="4561199"/>
            <a:ext cx="43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从全部合法有向弧中顺序采样一个匹配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4000" y="4896000"/>
            <a:ext cx="180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63200" y="4939200"/>
            <a:ext cx="1641599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冲突消解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84000" y="4896000"/>
            <a:ext cx="450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563200" y="4939200"/>
            <a:ext cx="43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由 resolver 事后贪心消解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83999" y="4896000"/>
            <a:ext cx="45252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063199" y="4939200"/>
            <a:ext cx="43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采样时即保证两端点空闲，无需消解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4000" y="5274000"/>
            <a:ext cx="180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3200" y="5317200"/>
            <a:ext cx="1641599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优化对象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84000" y="5274000"/>
            <a:ext cx="450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563200" y="5317200"/>
            <a:ext cx="43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提议分布 ≠ 环境执行的匹配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83999" y="5274000"/>
            <a:ext cx="45252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063199" y="5317200"/>
            <a:ext cx="43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联合 log-prob 就是环境执行的匹配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4000" y="5652000"/>
            <a:ext cx="180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63200" y="5695200"/>
            <a:ext cx="1641599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结果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84000" y="5652000"/>
            <a:ext cx="450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563200" y="5695200"/>
            <a:ext cx="43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成功率长期停在约 30%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83999" y="5652000"/>
            <a:ext cx="45252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3199" y="5695200"/>
            <a:ext cx="43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固定场景成功率 0.728 → 0.819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问题的本质：瓶颈不在产能，而在可达性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第一部分 · 场景分析与任务定义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1025999"/>
            <a:ext cx="2517300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4000" y="1025999"/>
            <a:ext cx="25173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7999" y="1385999"/>
            <a:ext cx="22293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4.7×10⁶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2088000"/>
            <a:ext cx="22293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>
                <a:solidFill>
                  <a:srgbClr val="333333"/>
                </a:solidFill>
                <a:latin typeface="微软雅黑"/>
              </a:rPr>
              <a:t>密钥 / 时隙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000" y="2376000"/>
            <a:ext cx="21933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808080"/>
                </a:solidFill>
                <a:latin typeface="微软雅黑"/>
              </a:rPr>
              <a:t>网络名义生成能力，远高于请求规模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3300" y="1025999"/>
            <a:ext cx="2517300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453300" y="1025999"/>
            <a:ext cx="25173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97300" y="1385999"/>
            <a:ext cx="22293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6–10×10⁴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7300" y="2088000"/>
            <a:ext cx="22293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>
                <a:solidFill>
                  <a:srgbClr val="333333"/>
                </a:solidFill>
                <a:latin typeface="微软雅黑"/>
              </a:rPr>
              <a:t>密钥 / 时隙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5299" y="2376000"/>
            <a:ext cx="21933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808080"/>
                </a:solidFill>
                <a:latin typeface="微软雅黑"/>
              </a:rPr>
              <a:t>地面站密钥请求的需求规模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600" y="1025999"/>
            <a:ext cx="2517300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22600" y="1025999"/>
            <a:ext cx="25173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66600" y="1385999"/>
            <a:ext cx="22293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9.3%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6600" y="2088000"/>
            <a:ext cx="22293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>
                <a:solidFill>
                  <a:srgbClr val="333333"/>
                </a:solidFill>
                <a:latin typeface="微软雅黑"/>
              </a:rPr>
              <a:t>（链路, 时隙）非零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4600" y="2376000"/>
            <a:ext cx="21933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808080"/>
                </a:solidFill>
                <a:latin typeface="微软雅黑"/>
              </a:rPr>
              <a:t>仅有约 9.3% 的链路-时隙组合速率非零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1900" y="1025999"/>
            <a:ext cx="2517300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991900" y="1025999"/>
            <a:ext cx="25173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35900" y="1385999"/>
            <a:ext cx="22293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1.4%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5900" y="2088000"/>
            <a:ext cx="22293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>
                <a:solidFill>
                  <a:srgbClr val="333333"/>
                </a:solidFill>
                <a:latin typeface="微软雅黑"/>
              </a:rPr>
              <a:t>GS-SAT 可用槽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900" y="2376000"/>
            <a:ext cx="21933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808080"/>
                </a:solidFill>
                <a:latin typeface="微软雅黑"/>
              </a:rPr>
              <a:t>稀疏性最严重的链路类型（HAP-SAT 6.8%）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4000" y="3456000"/>
            <a:ext cx="10825200" cy="864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0000" y="3546000"/>
            <a:ext cx="10393200" cy="68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名义产能约为需求的 50 倍，但可见链路既稀疏又时变：生成得多不代表送得到，调度才决定密钥能否抵达请求方。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" y="4564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5200" y="4536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可用性由三重因素共同决定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4000" y="4860000"/>
            <a:ext cx="23400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63200" y="4903200"/>
            <a:ext cx="2181600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因素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24000" y="4860000"/>
            <a:ext cx="41400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103200" y="4903200"/>
            <a:ext cx="3981600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作用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63999" y="4860000"/>
            <a:ext cx="43452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243199" y="4903200"/>
            <a:ext cx="4186800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典型表现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4000" y="5202000"/>
            <a:ext cx="234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3200" y="5245199"/>
            <a:ext cx="218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视线遮挡（LOS）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24000" y="5202000"/>
            <a:ext cx="414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103200" y="5245199"/>
            <a:ext cx="398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地球弦遮挡直接判定链路不可见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63999" y="5202000"/>
            <a:ext cx="43452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243199" y="5245199"/>
            <a:ext cx="418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GS-SAT 大部分时间不可见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4000" y="5562000"/>
            <a:ext cx="23400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3200" y="5605199"/>
            <a:ext cx="218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仰角阈值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24000" y="5562000"/>
            <a:ext cx="41400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103200" y="5605199"/>
            <a:ext cx="398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仰角 &lt; 5° 的链路不予采用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63999" y="5562000"/>
            <a:ext cx="43452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243199" y="5605199"/>
            <a:ext cx="418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低轨卫星过境窗口外全部失效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4000" y="5922000"/>
            <a:ext cx="234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5965200"/>
            <a:ext cx="218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卫星轨道几何 / 天气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24000" y="5922000"/>
            <a:ext cx="414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103200" y="5965200"/>
            <a:ext cx="398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决定可见时段与链路速率水平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3999" y="5922000"/>
            <a:ext cx="43452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243199" y="5965200"/>
            <a:ext cx="418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SAT-SAT 可用槽占比可达 51.2%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4049942" y="2762798"/>
            <a:ext cx="623279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信道建模与链路速率（待补充）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059458" y="3836994"/>
            <a:ext cx="6192981" cy="5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速率生成链路 / 协议层模型 / 可用性判定与稀疏性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395034" y="2819355"/>
            <a:ext cx="1040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99773" y="341832"/>
            <a:ext cx="11027450" cy="6072659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9" name="圆角矩形 18"/>
          <p:cNvSpPr/>
          <p:nvPr/>
        </p:nvSpPr>
        <p:spPr>
          <a:xfrm flipV="1">
            <a:off x="-115541" y="-407846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 flipV="1">
            <a:off x="423127" y="1473120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889914" y="5146184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450577" y="4969538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信道建模与链路速率计算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第二部分 · 信道建模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990000"/>
            <a:ext cx="10825200" cy="54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4000" y="1098000"/>
            <a:ext cx="104652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微软雅黑"/>
              </a:rPr>
              <a:t>本部分内容待补充。以下为规划中的讲解框架，供后续填充。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" y="1655999"/>
            <a:ext cx="252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699200"/>
            <a:ext cx="236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计划小节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4000" y="1655999"/>
            <a:ext cx="8305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83200" y="1699200"/>
            <a:ext cx="814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拟覆盖内容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000" y="2015999"/>
            <a:ext cx="252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3200" y="2059200"/>
            <a:ext cx="2361600" cy="39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速率生成链路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4000" y="2015999"/>
            <a:ext cx="83052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283200" y="2059200"/>
            <a:ext cx="8146800" cy="39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物理量（距离 / 仰角 / 天气 / 云量）→ 离线预计算 k_max(bps) → H5 数据集 → 训练时查表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000" y="2501999"/>
            <a:ext cx="2520000" cy="486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3200" y="2545200"/>
            <a:ext cx="2361600" cy="39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协议层速率模型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4000" y="2501999"/>
            <a:ext cx="8305200" cy="486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83200" y="2545200"/>
            <a:ext cx="8146800" cy="39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骨架效率 η 的构成与 GLLP / 诱骗态速率公式，关键参数取值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000" y="2987999"/>
            <a:ext cx="25200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3200" y="3031199"/>
            <a:ext cx="2361600" cy="39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可用性判定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4000" y="2987999"/>
            <a:ext cx="8305200" cy="4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283200" y="3031199"/>
            <a:ext cx="8146800" cy="39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LOS 遮挡、仰角阈值、卫星过境窗口的判定方式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4000" y="3473999"/>
            <a:ext cx="2520000" cy="486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3200" y="3517199"/>
            <a:ext cx="2361600" cy="39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切换半速与稀疏性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4000" y="3473999"/>
            <a:ext cx="8305200" cy="486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283200" y="3517199"/>
            <a:ext cx="8146800" cy="39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切换时隙速率 ×0.5 的实现，以及分类型可用槽占比统计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000" y="4464000"/>
            <a:ext cx="10825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08080"/>
                </a:solidFill>
                <a:latin typeface="微软雅黑"/>
              </a:rPr>
              <a:t>说明：速率在离线阶段用完整物理模型预计算并落盘为 H5，训练与评估阶段只做数组查表与归一化，不含实时物理计算。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3973742" y="2646013"/>
            <a:ext cx="623279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算法：启发式与强化学习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983258" y="3720209"/>
            <a:ext cx="6192981" cy="5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BFS 需求扩散启发式 / Graph-MAPPO / 全局匹配动作与奖励设计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318834" y="2702570"/>
            <a:ext cx="1040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99773" y="341832"/>
            <a:ext cx="11027450" cy="6072659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9" name="圆角矩形 18"/>
          <p:cNvSpPr/>
          <p:nvPr/>
        </p:nvSpPr>
        <p:spPr>
          <a:xfrm flipV="1">
            <a:off x="-115541" y="-407846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 flipV="1">
            <a:off x="423127" y="1473120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889914" y="5146184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450577" y="4969538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方法总览：启发式预训练 + 强化学习微调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第三部分 ·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1062000"/>
            <a:ext cx="2301300" cy="9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6000" y="1184399"/>
            <a:ext cx="21573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333333"/>
                </a:solidFill>
                <a:latin typeface="微软雅黑"/>
              </a:rPr>
              <a:t>BFS 需求扩散启发式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501200"/>
            <a:ext cx="21573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333333"/>
                </a:solidFill>
                <a:latin typeface="微软雅黑"/>
              </a:rPr>
              <a:t>PG-Phased 三阶段路径调度
（行为克隆专家）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75300" y="1511999"/>
            <a:ext cx="3600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320100" y="1454399"/>
            <a:ext cx="115200" cy="57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20100" y="1511999"/>
            <a:ext cx="115200" cy="57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5300" y="1062000"/>
            <a:ext cx="230130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97300" y="1184399"/>
            <a:ext cx="21573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333333"/>
                </a:solidFill>
                <a:latin typeface="微软雅黑"/>
              </a:rPr>
              <a:t>行为克隆 BC 预热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7300" y="1501200"/>
            <a:ext cx="21573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333333"/>
                </a:solidFill>
                <a:latin typeface="微软雅黑"/>
              </a:rPr>
              <a:t>克隆专家动作
获得高起点初始策略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16600" y="1511999"/>
            <a:ext cx="3600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61400" y="1454399"/>
            <a:ext cx="115200" cy="57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161400" y="1511999"/>
            <a:ext cx="115200" cy="57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66600" y="1062000"/>
            <a:ext cx="2301300" cy="900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38600" y="1184399"/>
            <a:ext cx="21573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Graph-MAPPO 强化学习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600" y="1501200"/>
            <a:ext cx="21573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</a:rPr>
              <a:t>从 BC 权重 warm-start
PPO 微调打分策略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57900" y="1511999"/>
            <a:ext cx="3600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02700" y="1454399"/>
            <a:ext cx="115200" cy="57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002700" y="1511999"/>
            <a:ext cx="115200" cy="57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07900" y="1062000"/>
            <a:ext cx="230130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79900" y="1184399"/>
            <a:ext cx="21573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333333"/>
                </a:solidFill>
                <a:latin typeface="微软雅黑"/>
              </a:rPr>
              <a:t>调度策略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9900" y="1501200"/>
            <a:ext cx="21573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333333"/>
                </a:solidFill>
                <a:latin typeface="微软雅黑"/>
              </a:rPr>
              <a:t>每时隙输出
一个全局链路匹配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4000" y="2296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5200" y="2268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为什么这样做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4000" y="2592000"/>
            <a:ext cx="3464400" cy="8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0000" y="2700000"/>
            <a:ext cx="32124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专家起点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000" y="3006000"/>
            <a:ext cx="32124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随机策略成功率仅约 0.18，直接用 PPO 探索效率极低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4400" y="2592000"/>
            <a:ext cx="3464400" cy="8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90400" y="2700000"/>
            <a:ext cx="32124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行为克隆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0400" y="3006000"/>
            <a:ext cx="32124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克隆 PG-Phased 启发式动作，把初始化拉到 0.73–0.86 区间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4799" y="2592000"/>
            <a:ext cx="3464400" cy="8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70800" y="2700000"/>
            <a:ext cx="32124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RL 微调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0800" y="3006000"/>
            <a:ext cx="32124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从 BC 权重 warm-start，用 PPO 优化边打分策略，突破启发式上界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4000" y="3736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5200" y="3708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两个算法共用的核心概念：需求扩散重要性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200" y="3996000"/>
            <a:ext cx="108252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3333"/>
                </a:solidFill>
                <a:latin typeface="微软雅黑"/>
              </a:rPr>
              <a:t>· 启发式用它给边打分、决定先开哪条路；强化学习把它作为物理边的一个输入特征（relay importance），让策略直接看到「这条边对满足当前需求有多重要」。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100" b="0">
                <a:solidFill>
                  <a:srgbClr val="333333"/>
                </a:solidFill>
                <a:latin typeface="微软雅黑"/>
              </a:rPr>
              <a:t>· 这样做的收益：Actor 不需要自己从零学「哪些边能拼成一条路径」，只需判断「重要性高且速率、容量合适的边值不值得开」。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4000" y="5472000"/>
            <a:ext cx="10825200" cy="7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0000" y="5562000"/>
            <a:ext cx="103932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/>
              </a:rPr>
              <a:t>后续章节顺序：启发式（2 页）→ 强化学习的建模、状态、网络、动作、奖励、训练（6 页）。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启发式①：BFS 需求扩散（relay importance）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第三部分 ·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917999"/>
            <a:ext cx="108252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333333"/>
                </a:solidFill>
                <a:latin typeface="微软雅黑"/>
              </a:rPr>
              <a:t>目标：把所有待处理请求的压力，压缩成「每条物理链路一个标量」，回答「哪条边最值得开」。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" y="1404000"/>
            <a:ext cx="504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6000" y="1386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① 构建可见图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1386000"/>
            <a:ext cx="844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以当前合法可见的物理边构成图 G_t，待处理请求对 (p, q) 构成需求边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" y="1854000"/>
            <a:ext cx="504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6000" y="1836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② 计算紧迫度加权需求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0" y="1836000"/>
            <a:ext cx="844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剩余量 × exp(已等待时长 / τ)，τ = 截止时长 × 0.8，越接近截止压力越大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000" y="2304000"/>
            <a:ext cx="504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6000" y="2286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③ BFS 求最短跳数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0" y="2286000"/>
            <a:ext cx="844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以 p、q 为起点求到各节点的最短跳数，得到 a = min(d(p,u), d(p,v))、b 同理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000" y="2754000"/>
            <a:ext cx="504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6000" y="2736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④ 累积到边上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0000" y="2736000"/>
            <a:ext cx="844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若 a + b + 1 ≤ K（K = 3 跳），按跳数衰减 η 与剩余容量加权累加到边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000" y="3204000"/>
            <a:ext cx="504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6000" y="3186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⑤ 归一化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" y="3186000"/>
            <a:ext cx="844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除以本时隙最大累积值，得到 [0, 1] 的重要性 I_i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4000" y="3708000"/>
            <a:ext cx="10825200" cy="1188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5999" y="3816000"/>
            <a:ext cx="10321200" cy="100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微软雅黑"/>
              </a:rPr>
              <a:t>紧迫度加权剩余需求：B_pq(t) = Σ 剩余量 × exp(age / τ)　　　τ = deadline_length × 0.8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微软雅黑"/>
              </a:rPr>
              <a:t>边重要性累积：relay_i += B_pq × η^(a+b−1) × cap_left_i　　　η = 0.25（跳数衰减）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微软雅黑"/>
              </a:rPr>
              <a:t>归一化：I_i = relay_i / max_j(relay_j) ∈ [0, 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000" y="5040000"/>
            <a:ext cx="108252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08080"/>
                </a:solidFill>
                <a:latin typeface="微软雅黑"/>
              </a:rPr>
              <a:t>工程取舍：实现中允许「当前不可用但仍持有密钥库存的链路」参与 BFS，使刚停用的链路不会立刻失去存在感；重要性只赋给当前合法可选的边。</a:t>
            </a:r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sz="1050" b="0">
                <a:solidFill>
                  <a:srgbClr val="808080"/>
                </a:solidFill>
                <a:latin typeface="微软雅黑"/>
              </a:rPr>
              <a:t>K = 3 跳的含义：一条物理边要成为某请求对的候选中继，两端地面站经过它连通的总跳数不超过 3。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启发式②：分阶段路径调度（PG-Phased）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第三部分 ·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917999"/>
            <a:ext cx="10825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333333"/>
                </a:solidFill>
                <a:latin typeface="微软雅黑"/>
              </a:rPr>
              <a:t>有了边打分只解决了「谁值得开」，还需要决定「按什么顺序、把整条路开出来」。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000" y="1404000"/>
            <a:ext cx="34644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4000" y="1404000"/>
            <a:ext cx="34644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0000" y="1565999"/>
            <a:ext cx="32124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① 存量密钥网络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" y="1872000"/>
            <a:ext cx="3212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优先用已持有的密钥库存直接服务请求，不激活任何新链路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4400" y="1404000"/>
            <a:ext cx="34644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64400" y="1404000"/>
            <a:ext cx="34644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90400" y="1565999"/>
            <a:ext cx="32124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② 混用库存的辅助路径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400" y="1872000"/>
            <a:ext cx="3212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库存不足以完整服务时，用库存 + 新生成混合补足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4799" y="1404000"/>
            <a:ext cx="34644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44799" y="1404000"/>
            <a:ext cx="34644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70800" y="1565999"/>
            <a:ext cx="32124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③ 全新路径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0800" y="1872000"/>
            <a:ext cx="3212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库存不可用时，激活整条中继路径生成新密钥服务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2430000"/>
            <a:ext cx="10825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配合 ServeProbe 路由：按瓶颈跳做部分服务，避免一条路径因中间某一跳受限而整体白开。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000" y="2872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5200" y="2844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效果与定位（实测）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" y="3168000"/>
            <a:ext cx="432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3200" y="3211200"/>
            <a:ext cx="416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000" y="3168000"/>
            <a:ext cx="432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83200" y="3211200"/>
            <a:ext cx="416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协议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4000" y="3168000"/>
            <a:ext cx="2905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03200" y="3211200"/>
            <a:ext cx="274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成功率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" y="3528000"/>
            <a:ext cx="432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3571200"/>
            <a:ext cx="416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path_score_greedy_phased（本启发式）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000" y="3528000"/>
            <a:ext cx="432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083200" y="3571200"/>
            <a:ext cx="416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标准验证（5 种子，确定性）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4000" y="3528000"/>
            <a:ext cx="29052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403200" y="3571200"/>
            <a:ext cx="274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0.8104 ± 0.0575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" y="3906000"/>
            <a:ext cx="432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3200" y="3949200"/>
            <a:ext cx="416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path_score_greedy_phased（本启发式）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000" y="3906000"/>
            <a:ext cx="432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083200" y="3949200"/>
            <a:ext cx="416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固定场景（12 种子）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4000" y="3906000"/>
            <a:ext cx="29052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403200" y="3949200"/>
            <a:ext cx="274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0.7765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4000" y="4284000"/>
            <a:ext cx="432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63200" y="4327200"/>
            <a:ext cx="416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greedy_relay（第二名非学习方法）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000" y="4284000"/>
            <a:ext cx="432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083200" y="4327200"/>
            <a:ext cx="416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标准验证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4000" y="4284000"/>
            <a:ext cx="29052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403200" y="4327200"/>
            <a:ext cx="274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0.435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4000" y="4662000"/>
            <a:ext cx="432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3200" y="4705200"/>
            <a:ext cx="416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随机策略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04000" y="4662000"/>
            <a:ext cx="432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083200" y="4705200"/>
            <a:ext cx="416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4000" y="4662000"/>
            <a:ext cx="29052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403200" y="4705200"/>
            <a:ext cx="274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≈ 0.18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4000" y="5220000"/>
            <a:ext cx="10825200" cy="9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00000" y="5328000"/>
            <a:ext cx="10393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本启发式是最强的非学习方法，比第二名高 1.86 倍。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333333"/>
                </a:solidFill>
                <a:latin typeface="微软雅黑"/>
              </a:rPr>
              <a:t>它同时承担另一个角色：作为强化学习的行为克隆专家，把可复现的调度经验注入策略网络。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强化学习建模：带图结构的 MDP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第三部分 ·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000" y="917999"/>
            <a:ext cx="198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3200" y="961200"/>
            <a:ext cx="18215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MDP 元素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4000" y="917999"/>
            <a:ext cx="8845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743200" y="961200"/>
            <a:ext cx="868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定义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" y="1278000"/>
            <a:ext cx="1980000" cy="6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3200" y="1321200"/>
            <a:ext cx="1821599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状态 s_t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4000" y="1278000"/>
            <a:ext cx="8845200" cy="6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743200" y="1321200"/>
            <a:ext cx="8686800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物理图与逻辑图融合的全局图：节点集合 + 物理链路边 + GS-GS 需求边，每个实体携带特征与历史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" y="1908000"/>
            <a:ext cx="1980000" cy="63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3200" y="1951200"/>
            <a:ext cx="1821599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动作 a_t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4000" y="1908000"/>
            <a:ext cx="8845200" cy="63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43200" y="1951200"/>
            <a:ext cx="8686800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一个全局匹配：从合法物理边中选出一组互不相交的有向弧，未匹配节点保持空闲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000" y="2538000"/>
            <a:ext cx="1980000" cy="6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2581200"/>
            <a:ext cx="1821599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转移 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4000" y="2538000"/>
            <a:ext cx="8845200" cy="6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743200" y="2581200"/>
            <a:ext cx="8686800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由链路速率的时间演化（天气、轨道几何）、密钥生成 / 过期、请求到达 / 服务 / 过期共同决定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" y="3168000"/>
            <a:ext cx="1980000" cy="63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3200" y="3211200"/>
            <a:ext cx="1821599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奖励 r_t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64000" y="3168000"/>
            <a:ext cx="8845200" cy="63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743200" y="3211200"/>
            <a:ext cx="8686800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B1 shaped 稠密奖励：服务成功 + 重要性加权生成 − 失败 / 过期 − 切换惩罚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000" y="3798000"/>
            <a:ext cx="1980000" cy="6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3200" y="3841200"/>
            <a:ext cx="1821599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折扣因子 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4000" y="3798000"/>
            <a:ext cx="8845200" cy="6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743200" y="3841200"/>
            <a:ext cx="8686800" cy="5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0.99（GAE 平滑系数 λ = 0.95）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4000" y="4708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5200" y="4680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图的两个关键性质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4000" y="5004000"/>
            <a:ext cx="504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6000" y="4986000"/>
            <a:ext cx="158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实时动态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4000" y="4975200"/>
            <a:ext cx="9025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物理图只保留当前合法的链路，逻辑图只保留活跃或近期出现过的请求对，图结构每个时隙都在变。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4000" y="5472000"/>
            <a:ext cx="504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6000" y="5454000"/>
            <a:ext cx="158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动作掩码前置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4000" y="5443200"/>
            <a:ext cx="9025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不可用、速率低于下限、被禁用类型的链路在构图前就被剔除，根本不会出现在候选集合里；空闲动作恒合法。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状态表示：三类实体的特征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第三部分 ·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917999"/>
            <a:ext cx="108252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333333"/>
                </a:solidFill>
                <a:latin typeface="微软雅黑"/>
              </a:rPr>
              <a:t>状态由三类实体的特征拼成，全部在送入网络前做归一化。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000" y="1278000"/>
            <a:ext cx="3464400" cy="306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1999" y="1324800"/>
            <a:ext cx="32484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节点特征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1584000"/>
            <a:ext cx="3464400" cy="30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0000" y="1692000"/>
            <a:ext cx="32124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节点类型 one-hot（GS / HAP / SAT）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关联链路密钥池总库存 / 总容量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关联链路剩余容量占比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以该节点为源 / 目的的需求量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队列压力：仍在等待服务的请求数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近期到达量（窗口 15 / 60 / 240 分钟）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是否存在可用相邻链路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时间周期特征（分钟、年内的 sin/cos 编码）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4400" y="1278000"/>
            <a:ext cx="3464400" cy="306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72400" y="1324800"/>
            <a:ext cx="32484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物理边特征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4400" y="1584000"/>
            <a:ext cx="3464400" cy="30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90400" y="1692000"/>
            <a:ext cx="32124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链路类型 one-hot（4 类）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当前可用性、当前归一化速率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未来 H = 6 步速率与可用性（前向窗口）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窗口内速率增量 / 均值 / 最大值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上一时隙是否激活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relay importance（需求扩散重要性）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剩余 QKP 容量占比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4799" y="1278000"/>
            <a:ext cx="3464400" cy="306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52799" y="1324800"/>
            <a:ext cx="32484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需求边特征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4799" y="1584000"/>
            <a:ext cx="3464400" cy="30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70800" y="1692000"/>
            <a:ext cx="32124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该请求对的 pending 密钥量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pending 请求数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最小 / 平均剩余截止时间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平均已等待时长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请求量 × 优先级之和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3333"/>
                </a:solidFill>
                <a:latin typeface="微软雅黑"/>
              </a:rPr>
              <a:t>· 等待时间分桶 × 10（各桶剩余需求量）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000" y="4834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5200" y="4806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两个设计要点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000" y="5112000"/>
            <a:ext cx="10663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· 未来速率进入特征：离线数据中未来速率已知，策略可以据此规划「何时激活、何时让链路休息」，而不是只看当前这一分钟。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b="0">
                <a:solidFill>
                  <a:srgbClr val="333333"/>
                </a:solidFill>
                <a:latin typeface="微软雅黑"/>
              </a:rPr>
              <a:t>· 等待分桶把截止时长均匀切成 10 个桶，桶内记录该等待区间仍剩余的需求量，使网络不仅知道「有多少需求」，还知道「等了多久、还差多久到期」。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b="0">
                <a:solidFill>
                  <a:srgbClr val="333333"/>
                </a:solidFill>
                <a:latin typeface="微软雅黑"/>
              </a:rPr>
              <a:t>· 历史由共享 LSTM 编码（默认关闭）：只编码过去，未来信息仅通过前向窗口进入网络。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网络结构：共享编码器 + 边打分 Actor + 全局 Critic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第三部分 ·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1098000"/>
            <a:ext cx="2006640" cy="10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6000" y="1224000"/>
            <a:ext cx="186263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微软雅黑"/>
              </a:rPr>
              <a:t>特征拼接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548000"/>
            <a:ext cx="186263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333333"/>
                </a:solidFill>
                <a:latin typeface="微软雅黑"/>
              </a:rPr>
              <a:t>手工特征
(+ LSTM 历史)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26640" y="1638000"/>
            <a:ext cx="1260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8639" y="1098000"/>
            <a:ext cx="2006640" cy="1080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960639" y="1224000"/>
            <a:ext cx="186263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图编码器 GNN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0639" y="1548000"/>
            <a:ext cx="186263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</a:rPr>
              <a:t>边条件消息传递
3 层 × 128 维
LayerNorm + 残差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1279" y="1638000"/>
            <a:ext cx="126001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93280" y="1098000"/>
            <a:ext cx="2006640" cy="10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65280" y="1224000"/>
            <a:ext cx="186263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微软雅黑"/>
              </a:rPr>
              <a:t>节点 / 边嵌入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5280" y="1548000"/>
            <a:ext cx="186263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333333"/>
                </a:solidFill>
                <a:latin typeface="微软雅黑"/>
              </a:rPr>
              <a:t>每条物理边的
统一表示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5920" y="1638000"/>
            <a:ext cx="1260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97919" y="1098000"/>
            <a:ext cx="2006640" cy="1080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9919" y="1224000"/>
            <a:ext cx="186263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Actor：边打分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9919" y="1548000"/>
            <a:ext cx="186263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</a:rPr>
              <a:t>MLP(h_u, h_v, e_uv)
→ 每条合法弧一个分数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40560" y="1638000"/>
            <a:ext cx="125999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2559" y="1098000"/>
            <a:ext cx="2006640" cy="10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74559" y="1224000"/>
            <a:ext cx="186263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微软雅黑"/>
              </a:rPr>
              <a:t>Critic：全局价值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4559" y="1548000"/>
            <a:ext cx="186263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333333"/>
                </a:solidFill>
                <a:latin typeface="微软雅黑"/>
              </a:rPr>
              <a:t>typed-mean 池化
+ 规模计数 → V(s)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" y="2584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5200" y="2556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三个关键设计选择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4000" y="2880000"/>
            <a:ext cx="288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3200" y="2923199"/>
            <a:ext cx="272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设计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4000" y="2880000"/>
            <a:ext cx="7945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643200" y="2923199"/>
            <a:ext cx="778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做法与理由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" y="3240000"/>
            <a:ext cx="288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63200" y="3283199"/>
            <a:ext cx="2721600" cy="48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共享编码器 + 共享 Actor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4000" y="3240000"/>
            <a:ext cx="79452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43200" y="3283199"/>
            <a:ext cx="7786800" cy="48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所有节点、所有边共享同一套参数，属于 MAPPO 在单图场景下的等价形式；Critic 是全局价值函数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4000" y="3816000"/>
            <a:ext cx="2880000" cy="576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63200" y="3859199"/>
            <a:ext cx="2721600" cy="48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demand_edge 模式（默认）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4000" y="3816000"/>
            <a:ext cx="7945200" cy="576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643200" y="3859199"/>
            <a:ext cx="7786800" cy="48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只让需求边更新节点嵌入，物理边的能力信息通过 relay importance 直接压进边特征，避免「高速率但与需求无关」的链路污染节点状态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4000" y="4392000"/>
            <a:ext cx="288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63200" y="4435199"/>
            <a:ext cx="2721600" cy="48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typed-mean 池化 + 规模计数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4000" y="4392000"/>
            <a:ext cx="79452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643200" y="4435199"/>
            <a:ext cx="7786800" cy="48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节点 / 物理边 / 需求边分别取平均再拼接，避免两类边相互稀释；补上 log 规模计数弥补均值池化丢失的图规模信息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4000" y="5400000"/>
            <a:ext cx="10825200" cy="79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0000" y="5490000"/>
            <a:ext cx="10393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微软雅黑"/>
              </a:rPr>
              <a:t>边嵌入在 GNN 中不做逐层更新，保持与输入特征一一对应；决策最终落在链路上，因此 Actor 只需学会判断「重要性高、速率和容量合适的边值不值得开」。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动作设计：全局匹配（关键设计）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第三部分 ·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917999"/>
            <a:ext cx="108252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微软雅黑"/>
              </a:rPr>
              <a:t>这是整个项目里返工最多、也最关键的一处设计。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000" y="1260000"/>
            <a:ext cx="51966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4000" y="1260000"/>
            <a:ext cx="5196600" cy="251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999" y="1303200"/>
            <a:ext cx="49086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333333"/>
                </a:solidFill>
                <a:latin typeface="微软雅黑"/>
              </a:rPr>
              <a:t>早期做法（已废弃）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999" y="1602000"/>
            <a:ext cx="49086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微软雅黑"/>
              </a:rPr>
              <a:t>· 每个节点独立采样一条边</a:t>
            </a:r>
          </a:p>
          <a:p>
            <a:pPr algn="l">
              <a:lnSpc>
                <a:spcPct val="140000"/>
              </a:lnSpc>
              <a:spcBef>
                <a:spcPts val="700"/>
              </a:spcBef>
            </a:pPr>
            <a:r>
              <a:rPr sz="1100" b="0">
                <a:solidFill>
                  <a:srgbClr val="333333"/>
                </a:solidFill>
                <a:latin typeface="微软雅黑"/>
              </a:rPr>
              <a:t>· 采样结果由 resolver 事后贪心消解冲突</a:t>
            </a:r>
          </a:p>
          <a:p>
            <a:pPr algn="l">
              <a:lnSpc>
                <a:spcPct val="140000"/>
              </a:lnSpc>
              <a:spcBef>
                <a:spcPts val="700"/>
              </a:spcBef>
            </a:pPr>
            <a:r>
              <a:rPr sz="1100" b="0">
                <a:solidFill>
                  <a:srgbClr val="333333"/>
                </a:solidFill>
                <a:latin typeface="微软雅黑"/>
              </a:rPr>
              <a:t>· 问题的根源：PPO 优化的是「提议分布」，而环境实际执行的是消解后的匹配，两者不一致</a:t>
            </a:r>
          </a:p>
          <a:p>
            <a:pPr algn="l">
              <a:lnSpc>
                <a:spcPct val="140000"/>
              </a:lnSpc>
              <a:spcBef>
                <a:spcPts val="700"/>
              </a:spcBef>
            </a:pPr>
            <a:r>
              <a:rPr sz="1100" b="0">
                <a:solidFill>
                  <a:srgbClr val="333333"/>
                </a:solidFill>
                <a:latin typeface="微软雅黑"/>
              </a:rPr>
              <a:t>· 后果：成功率长期停在约 30%，怎么调参都上不去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2600" y="1260000"/>
            <a:ext cx="5196600" cy="2304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56600" y="1350000"/>
            <a:ext cx="4908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当前做法：全局匹配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6600" y="1638000"/>
            <a:ext cx="49086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· Actor 对每条合法有向弧 (tx_target, rx_source) 打分</a:t>
            </a:r>
          </a:p>
          <a:p>
            <a:pPr algn="l">
              <a:lnSpc>
                <a:spcPct val="140000"/>
              </a:lnSpc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  <a:latin typeface="微软雅黑"/>
              </a:rPr>
              <a:t>· 从全部合法弧出发，每一步只在「两端点仍空闲」的弧中按 softmax 采样一条（含 STOP 选项），直到没有可用弧</a:t>
            </a:r>
          </a:p>
          <a:p>
            <a:pPr algn="l">
              <a:lnSpc>
                <a:spcPct val="140000"/>
              </a:lnSpc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  <a:latin typeface="微软雅黑"/>
              </a:rPr>
              <a:t>· 关键性质：采样出来的匹配，就是环境真正执行的匹配</a:t>
            </a:r>
          </a:p>
          <a:p>
            <a:pPr algn="l">
              <a:lnSpc>
                <a:spcPct val="140000"/>
              </a:lnSpc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  <a:latin typeface="微软雅黑"/>
              </a:rPr>
              <a:t>· PPO 优化的正是该匹配的联合 log-prob（向量化实现）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000" y="3708000"/>
            <a:ext cx="10825200" cy="57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0" bIns="0"/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333333"/>
                </a:solidFill>
                <a:latin typeface="微软雅黑"/>
              </a:rPr>
              <a:t>π_θ(M | s_t) =  softmax(s_e / T)，e_k 为第 k 步选中弧，A_k 为第 k 步两端点仍空闲的合法弧集合，温度 T 默认 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4000" y="4456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5200" y="4428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修复后的效果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000" y="4752000"/>
            <a:ext cx="180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3200" y="4795199"/>
            <a:ext cx="16415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版本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4000" y="4752000"/>
            <a:ext cx="540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563200" y="4795199"/>
            <a:ext cx="524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动作层机制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3999" y="4752000"/>
            <a:ext cx="3625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63199" y="4795199"/>
            <a:ext cx="346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固定场景成功率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000" y="5112000"/>
            <a:ext cx="18000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155199"/>
            <a:ext cx="1641599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早期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4000" y="5112000"/>
            <a:ext cx="54000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563200" y="5155199"/>
            <a:ext cx="524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节点独立采样 + resolver 贪心消解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3999" y="5112000"/>
            <a:ext cx="36252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963199" y="5155199"/>
            <a:ext cx="34668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长期停在约 0.30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4000" y="5526000"/>
            <a:ext cx="18000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3200" y="5569200"/>
            <a:ext cx="1641599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当前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4000" y="5526000"/>
            <a:ext cx="54000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563200" y="5569200"/>
            <a:ext cx="524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全局匹配顺序采样，采样即执行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3999" y="5526000"/>
            <a:ext cx="36252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63199" y="5569200"/>
            <a:ext cx="34668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0.728 → 0.819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000" y="5976000"/>
            <a:ext cx="10825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结论：动作层与优化目标是否一致，比调参更决定成败。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奖励设计：B1 shaped 稠密奖励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第三部分 ·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917999"/>
            <a:ext cx="10825200" cy="864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5999" y="1044000"/>
            <a:ext cx="103212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微软雅黑"/>
              </a:rPr>
              <a:t>r_t =  w_s · S_t / R_served　+　w_g · Σ(added_i · I_i − w_low · added_i · (1 − I_i)) / Σ added_i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250" b="0">
                <a:solidFill>
                  <a:srgbClr val="FFFFFF"/>
                </a:solidFill>
                <a:latin typeface="微软雅黑"/>
              </a:rPr>
              <a:t>　　　　−　(w_f · F_t + w_e · E_t) / R_served　−　w_c · C_t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" y="1944000"/>
            <a:ext cx="234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987200"/>
            <a:ext cx="218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分量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24000" y="1944000"/>
            <a:ext cx="666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03200" y="1987200"/>
            <a:ext cx="65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含义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84000" y="1944000"/>
            <a:ext cx="1825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763200" y="1987200"/>
            <a:ext cx="166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权重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" y="2304000"/>
            <a:ext cx="23400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3200" y="2347200"/>
            <a:ext cx="218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服务成功 S_t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4000" y="2304000"/>
            <a:ext cx="66600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103200" y="2347200"/>
            <a:ext cx="650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本步成功服务的密钥量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4000" y="2304000"/>
            <a:ext cx="18252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763200" y="2347200"/>
            <a:ext cx="16668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w_s = 20.0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000" y="2718000"/>
            <a:ext cx="23400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3200" y="2761200"/>
            <a:ext cx="218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重要性加权生成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24000" y="2718000"/>
            <a:ext cx="66600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103200" y="2761200"/>
            <a:ext cx="650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生成在重要中继路径上且实际入池的密钥份额（占比形式）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84000" y="2718000"/>
            <a:ext cx="18252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63200" y="2761200"/>
            <a:ext cx="16668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w_g = 0.02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000" y="3132000"/>
            <a:ext cx="23400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3200" y="3175200"/>
            <a:ext cx="218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低重要性惩罚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24000" y="3132000"/>
            <a:ext cx="66600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103200" y="3175200"/>
            <a:ext cx="650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存入低重要性链路的部分被按比例扣分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4000" y="3132000"/>
            <a:ext cx="18252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763200" y="3175200"/>
            <a:ext cx="16668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w_low = 0.01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4000" y="3546000"/>
            <a:ext cx="23400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3200" y="3589200"/>
            <a:ext cx="218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失败 / 过期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24000" y="3546000"/>
            <a:ext cx="66600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03200" y="3589200"/>
            <a:ext cx="650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失败密钥量（含过期请求）与过期密钥量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84000" y="3546000"/>
            <a:ext cx="18252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763200" y="3589200"/>
            <a:ext cx="16668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w_f = w_e = 0.01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4000" y="3960000"/>
            <a:ext cx="23400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4003200"/>
            <a:ext cx="218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切换惩罚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24000" y="3960000"/>
            <a:ext cx="66600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103200" y="4003200"/>
            <a:ext cx="650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本步新激活（上一时隙未激活）的链路条数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4000" y="3960000"/>
            <a:ext cx="1825200" cy="4139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763200" y="4003200"/>
            <a:ext cx="16668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w_c = 0.001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4000" y="4374000"/>
            <a:ext cx="23400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63200" y="4417200"/>
            <a:ext cx="218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需求参考值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24000" y="4374000"/>
            <a:ext cx="66600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103200" y="4417200"/>
            <a:ext cx="65016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服务侧与失败侧统一除以的固定参考值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84000" y="4374000"/>
            <a:ext cx="1825200" cy="413999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63200" y="4417200"/>
            <a:ext cx="16668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R_served = 100000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4000" y="4960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35200" y="4932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三个设计要点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6000" y="5220000"/>
            <a:ext cx="10663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· 固定参考值：需求侧统一除以固定的 R_served，保证「同样 1 bit 服务量」在开局、深夜、高峰获得相同的奖励尺度，避免奖励在 episode 内部随时间漂移。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b="0">
                <a:solidFill>
                  <a:srgbClr val="333333"/>
                </a:solidFill>
                <a:latin typeface="微软雅黑"/>
              </a:rPr>
              <a:t>· 占比形式：供应侧取「重要性加权和占本步存入总量的比例」，取值范围约在 [−w_g·w_low, w_g]，只奖励真正生成在重要中继路径上的密钥份额，避免大额原始生成主导奖励。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b="0">
                <a:solidFill>
                  <a:srgbClr val="333333"/>
                </a:solidFill>
                <a:latin typeface="微软雅黑"/>
              </a:rPr>
              <a:t>· 切换惩罚按条数计：不再除以百万级参考值，量级与其它分量可比。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训练流程：多进程 rollout → GAE → PPO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第三部分 ·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000" y="917999"/>
            <a:ext cx="50400" cy="486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4000" y="889199"/>
            <a:ext cx="226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/>
              </a:rPr>
              <a:t>① 多进程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4000" y="881999"/>
            <a:ext cx="8305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worker 进程池并行采样，模型权重与探索温度随任务下发，保证各 worker 的探索温度同步；每步记录观测、动作、旧策略 log-prob、价值、奖励、终止标志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4000" y="1584000"/>
            <a:ext cx="50400" cy="486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4000" y="1555200"/>
            <a:ext cx="226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/>
              </a:rPr>
              <a:t>② GAE 优势估计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4000" y="1548000"/>
            <a:ext cx="8305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δ_t = r_t + γ(1−d_t)V(s_{t+1}) − V(s_t)；A_t = δ_t + γλ(1−d_t)A_{t+1}；回报 R̂_t = A_t + V(s_t)，γ = 0.99、λ = 0.95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000" y="2250000"/>
            <a:ext cx="50400" cy="486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4000" y="2221200"/>
            <a:ext cx="226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/>
              </a:rPr>
              <a:t>③ PPO 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4000" y="2214000"/>
            <a:ext cx="8305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优势标准化 → 裁剪 surrogate（ε = 0.2）→ 价值损失（系数 0.5）+ 熵正则 → 梯度裁剪 ‖g‖₂ ≤ 0.5 → Adam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4000" y="2916000"/>
            <a:ext cx="50400" cy="486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4000" y="2887200"/>
            <a:ext cx="226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/>
              </a:rPr>
              <a:t>④ 早停与保存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4000" y="2880000"/>
            <a:ext cx="8305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minibatch 平均 KL 散度 &gt; 0.03 时结束本轮 epoch；定期保存含优化器状态的 checkpoint，支持断点续训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000" y="3700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5200" y="3671999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关键超参数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000" y="3996000"/>
            <a:ext cx="30600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3200" y="4039199"/>
            <a:ext cx="2901600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参数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4000" y="3996000"/>
            <a:ext cx="24660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823200" y="4039199"/>
            <a:ext cx="2307599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取值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0000" y="3996000"/>
            <a:ext cx="30600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89200" y="4039199"/>
            <a:ext cx="2901600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参数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70000" y="3996000"/>
            <a:ext cx="2239200" cy="34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49200" y="4039199"/>
            <a:ext cx="2080799" cy="2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取值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" y="4338000"/>
            <a:ext cx="306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4381199"/>
            <a:ext cx="29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隐藏维 / GNN 层数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4000" y="4338000"/>
            <a:ext cx="2466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823200" y="4381199"/>
            <a:ext cx="23075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128 / 3 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0000" y="4338000"/>
            <a:ext cx="306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89200" y="4381199"/>
            <a:ext cx="29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折扣因子 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70000" y="4338000"/>
            <a:ext cx="22392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49200" y="4381199"/>
            <a:ext cx="20807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0.99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4000" y="4698000"/>
            <a:ext cx="30600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3200" y="4741199"/>
            <a:ext cx="29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未来速率窗口 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4000" y="4698000"/>
            <a:ext cx="24660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823200" y="4741199"/>
            <a:ext cx="23075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6 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0000" y="4698000"/>
            <a:ext cx="30600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289200" y="4741199"/>
            <a:ext cx="29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GAE 系数 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70000" y="4698000"/>
            <a:ext cx="22392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349200" y="4741199"/>
            <a:ext cx="20807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0.95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4000" y="5058000"/>
            <a:ext cx="306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63200" y="5101199"/>
            <a:ext cx="29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需求等待分桶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4000" y="5058000"/>
            <a:ext cx="2466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823200" y="5101199"/>
            <a:ext cx="23075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10 个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0000" y="5058000"/>
            <a:ext cx="3060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89200" y="5101199"/>
            <a:ext cx="29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PPO 裁剪 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70000" y="5058000"/>
            <a:ext cx="22392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349200" y="5101199"/>
            <a:ext cx="20807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4000" y="5418000"/>
            <a:ext cx="30600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63200" y="5461199"/>
            <a:ext cx="29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学习率（Actor / Critic）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44000" y="5418000"/>
            <a:ext cx="24660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823200" y="5461199"/>
            <a:ext cx="23075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3e−4 / 1e−3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0000" y="5418000"/>
            <a:ext cx="30600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89200" y="5461199"/>
            <a:ext cx="29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梯度裁剪 / target KL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70000" y="5418000"/>
            <a:ext cx="2239200" cy="36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349200" y="5461199"/>
            <a:ext cx="2080799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0.5 / 0.03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4000" y="5903999"/>
            <a:ext cx="108252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08080"/>
                </a:solidFill>
                <a:latin typeface="微软雅黑"/>
              </a:rPr>
              <a:t>训练模式：continuous（随机起点连续训练）、fixed_day（固定日跑满 1440 步）、curriculum（短局起步逐步加长）。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-1996954" y="-2490492"/>
            <a:ext cx="5691788" cy="6447034"/>
          </a:xfrm>
          <a:prstGeom prst="roundRect">
            <a:avLst>
              <a:gd name="adj" fmla="val 1100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815712" y="2179329"/>
            <a:ext cx="11027450" cy="6909975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9446055" y="-1229677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518189" y="2002683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639066" y="3779897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73742" y="2448323"/>
            <a:ext cx="623279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结果与存在的问题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983258" y="3522519"/>
            <a:ext cx="6192981" cy="5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评测协议 / 各算法结果对比 / 全局训练停滞与诊断 / 下一步计划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318834" y="2504880"/>
            <a:ext cx="1040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04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评测协议与结果对比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第四部分 · 结果与存在的问题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000" y="946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5200" y="917999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两套评测协议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000" y="1224000"/>
            <a:ext cx="5256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· 标准验证：5 个随机种子、确定性评估（argmax），用于横向比较不同方法。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b="0">
                <a:solidFill>
                  <a:srgbClr val="333333"/>
                </a:solidFill>
                <a:latin typeface="微软雅黑"/>
              </a:rPr>
              <a:t>· 固定场景：day 0 + 固定请求种子、12 种子，用于调试与验证奖励设计（可复现）。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0" y="1224000"/>
            <a:ext cx="52092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· 同口径评估：checkpoint 用与训练指标完全相同的口径复算，避免「训练好、评估差」。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b="0">
                <a:solidFill>
                  <a:srgbClr val="808080"/>
                </a:solidFill>
                <a:latin typeface="微软雅黑"/>
              </a:rPr>
              <a:t>注意：不同协议的绝对数值不可直接比较，表中已标注协议。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" y="2070000"/>
            <a:ext cx="432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3200" y="2113200"/>
            <a:ext cx="416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4000" y="2070000"/>
            <a:ext cx="432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83200" y="2113200"/>
            <a:ext cx="416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协议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4000" y="2070000"/>
            <a:ext cx="2905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403200" y="2113200"/>
            <a:ext cx="274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成功率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000" y="2430000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3200" y="2473200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启发式 path_score_greedy_phased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4000" y="2430000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83200" y="2473200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标准验证（5 种子，确定性）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4000" y="2430000"/>
            <a:ext cx="29052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403200" y="2473200"/>
            <a:ext cx="27468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0.8104 ± 0.0575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" y="2862000"/>
            <a:ext cx="4320000" cy="432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3200" y="2905200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启发式 path_score_greedy_phased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000" y="2862000"/>
            <a:ext cx="4320000" cy="432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83200" y="2905200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固定场景（12 种子）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4000" y="2862000"/>
            <a:ext cx="2905200" cy="432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03200" y="2905200"/>
            <a:ext cx="27468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0.7765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" y="3294000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3337200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BC 预热权重（克隆启发式）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000" y="3294000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083200" y="3337200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标准验证（5 种子，确定性）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4000" y="3294000"/>
            <a:ext cx="29052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403200" y="3337200"/>
            <a:ext cx="27468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0.7581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" y="3726000"/>
            <a:ext cx="4320000" cy="432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3200" y="3769199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BC 预热权重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000" y="3726000"/>
            <a:ext cx="4320000" cy="432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083200" y="3769199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固定场景（12 种子，确定性）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4000" y="3726000"/>
            <a:ext cx="2905200" cy="432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403200" y="3769199"/>
            <a:ext cx="27468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0.7280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4000" y="4157999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63200" y="4201199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RL —— 固定场景训练 20 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000" y="4157999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083200" y="4201199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固定场景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4000" y="4157999"/>
            <a:ext cx="29052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403200" y="4201199"/>
            <a:ext cx="27468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0.819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4000" y="4589999"/>
            <a:ext cx="4320000" cy="432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3200" y="4633199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RL —— 全局训练 30 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04000" y="4589999"/>
            <a:ext cx="4320000" cy="432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083200" y="4633199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标准验证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4000" y="4589999"/>
            <a:ext cx="2905200" cy="432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403200" y="4633199"/>
            <a:ext cx="27468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0.713 ± 0.033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4000" y="5021999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63200" y="5065199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随机策略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4000" y="5021999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083200" y="5065199"/>
            <a:ext cx="41616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4000" y="5021999"/>
            <a:ext cx="29052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403200" y="5065199"/>
            <a:ext cx="2746800" cy="34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≈ 0.18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4000" y="5670000"/>
            <a:ext cx="10825200" cy="684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00000" y="5752800"/>
            <a:ext cx="103932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一句话总结：固定场景下 RL 已经超过启发式；但同样的方法搬到全局训练上，提升消失了。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结果解读：BC 的价值与固定场景的突破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第四部分 · 结果与存在的问题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990000"/>
            <a:ext cx="3464400" cy="26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4000" y="990000"/>
            <a:ext cx="34644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7999" y="1422000"/>
            <a:ext cx="317639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A1A1A"/>
                </a:solidFill>
                <a:latin typeface="微软雅黑"/>
              </a:rPr>
              <a:t>0.8104 → 0.7581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1925999"/>
            <a:ext cx="31763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微软雅黑"/>
              </a:rPr>
              <a:t>行为克隆的代价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5999" y="2231999"/>
            <a:ext cx="2600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000" y="2340000"/>
            <a:ext cx="31044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>
                <a:solidFill>
                  <a:srgbClr val="808080"/>
                </a:solidFill>
                <a:latin typeface="微软雅黑"/>
              </a:rPr>
              <a:t>克隆专家动作会损失约 5.2 个百分点，但把 RL 的初始成功率从「随机 ≈ 0.18」抬升到「0.73–0.86」区间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4400" y="990000"/>
            <a:ext cx="3464400" cy="26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64400" y="990000"/>
            <a:ext cx="34644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08400" y="1422000"/>
            <a:ext cx="317639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A1A1A"/>
                </a:solidFill>
                <a:latin typeface="微软雅黑"/>
              </a:rPr>
              <a:t>0.728 → 0.819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400" y="1925999"/>
            <a:ext cx="31763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微软雅黑"/>
              </a:rPr>
              <a:t>固定场景的突破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96400" y="2231999"/>
            <a:ext cx="2600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44400" y="2340000"/>
            <a:ext cx="31044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>
                <a:solidFill>
                  <a:srgbClr val="808080"/>
                </a:solidFill>
                <a:latin typeface="微软雅黑"/>
              </a:rPr>
              <a:t>在 day 0 + 固定请求种子的场景下训练 20 轮，成功率超过启发式基线 0.7765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4799" y="990000"/>
            <a:ext cx="3464400" cy="26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44799" y="990000"/>
            <a:ext cx="3464400" cy="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88799" y="1422000"/>
            <a:ext cx="317639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A1A1A"/>
                </a:solidFill>
                <a:latin typeface="微软雅黑"/>
              </a:rPr>
              <a:t>0.713 ± 0.033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8799" y="1925999"/>
            <a:ext cx="31763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微软雅黑"/>
              </a:rPr>
              <a:t>全局训练的停滞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6799" y="2231999"/>
            <a:ext cx="26004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4799" y="2340000"/>
            <a:ext cx="31044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>
                <a:solidFill>
                  <a:srgbClr val="808080"/>
                </a:solidFill>
                <a:latin typeface="微软雅黑"/>
              </a:rPr>
              <a:t>标准验证 5 种子 6 次评估均值与纯噪声波动一致，低于 BC 起点与启发式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4000" y="3880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5200" y="3851999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可以确认的三件事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000" y="4176000"/>
            <a:ext cx="106632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3333"/>
                </a:solidFill>
                <a:latin typeface="微软雅黑"/>
              </a:rPr>
              <a:t>① 行为克隆是有价值的：它把 RL 从「随机探索」直接抬到接近专家水平，使固定场景的微调变得可行。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150" b="0">
                <a:solidFill>
                  <a:srgbClr val="333333"/>
                </a:solidFill>
                <a:latin typeface="微软雅黑"/>
              </a:rPr>
              <a:t>② 模型与奖励设计在固定场景下是有效的：同一套网络和奖励能让成功率超过启发式，说明结构和奖励信号没有方向性错误。</a:t>
            </a:r>
          </a:p>
          <a:p>
            <a:pPr algn="l">
              <a:lnSpc>
                <a:spcPct val="145000"/>
              </a:lnSpc>
              <a:spcBef>
                <a:spcPts val="900"/>
              </a:spcBef>
            </a:pPr>
            <a:r>
              <a:rPr sz="1150" b="0">
                <a:solidFill>
                  <a:srgbClr val="333333"/>
                </a:solidFill>
                <a:latin typeface="微软雅黑"/>
              </a:rPr>
              <a:t>③ 问题不在价值估计：训练全程 critic 与真实回报的相关系数保持在 0.89，说明 Critic 学得准，瓶颈在策略更新侧。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4000" y="5832000"/>
            <a:ext cx="10825200" cy="576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0000" y="5903999"/>
            <a:ext cx="103932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微软雅黑"/>
              </a:rPr>
              <a:t>于是问题被收敛成一个：为什么「固定场景有效」的更新方式，在全局训练里不再产生增益？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存在的问题：全局训练成功率停滞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第四部分 · 结果与存在的问题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000" y="946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5200" y="917999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现象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" y="1278000"/>
            <a:ext cx="270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321200"/>
            <a:ext cx="254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观察项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4000" y="1278000"/>
            <a:ext cx="8125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63200" y="1321200"/>
            <a:ext cx="796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000" y="1638000"/>
            <a:ext cx="270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3200" y="1681200"/>
            <a:ext cx="25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标准验证 6 次评估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4000" y="1638000"/>
            <a:ext cx="81252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63200" y="1681200"/>
            <a:ext cx="79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0.706 / 0.715 / 0.759 / 0.711 / 0.729 / 0.659，均值 0.713 ± 0.033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000" y="2015999"/>
            <a:ext cx="270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3200" y="2059200"/>
            <a:ext cx="25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与起点的关系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4000" y="2015999"/>
            <a:ext cx="81252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63200" y="2059200"/>
            <a:ext cx="79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低于 BC 起点 0.758，也低于启发式 0.810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000" y="2394000"/>
            <a:ext cx="270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3200" y="2437200"/>
            <a:ext cx="25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波动性质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4000" y="2394000"/>
            <a:ext cx="81252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63200" y="2437200"/>
            <a:ext cx="79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与「纯噪声围绕 0.713 波动」一致，观察不到上升趋势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4000" y="2771999"/>
            <a:ext cx="270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3200" y="2815200"/>
            <a:ext cx="25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训练侧指标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4000" y="2771999"/>
            <a:ext cx="81252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63200" y="2815200"/>
            <a:ext cx="79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8 局采样均值 0.858 → 0.842，reward 92 → 91，全程持平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" y="3150000"/>
            <a:ext cx="27000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3193199"/>
            <a:ext cx="25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策略熵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4000" y="3150000"/>
            <a:ext cx="8125200" cy="378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63200" y="3193199"/>
            <a:ext cx="79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3.33 → 4.01，持续向随机化漂移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4000" y="3528000"/>
            <a:ext cx="27000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3200" y="3571200"/>
            <a:ext cx="25416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固定场景对照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4000" y="3528000"/>
            <a:ext cx="8125200" cy="378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463200" y="3571200"/>
            <a:ext cx="7966800" cy="29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smoke 训练 60 轮后同口径评估 0.8574，反而低于 BC 基线 0.8622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4000" y="4132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5200" y="4104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诊断：问题被定位在 Actor 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4000" y="4428000"/>
            <a:ext cx="50400" cy="32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46000" y="4410000"/>
            <a:ext cx="230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Critic 全程健康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4000" y="4399200"/>
            <a:ext cx="8305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corr(V, R) = 0.89，价值估计没有崩塌，因此不是「信号不可信」导致的学不动。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4000" y="4914000"/>
            <a:ext cx="50400" cy="32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46000" y="4896000"/>
            <a:ext cx="230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策略熵持续上升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4000" y="4885200"/>
            <a:ext cx="8305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从 3.33 升到 4.01，说明策略在向高熵、随机化方向漂移，而不是收敛到更确定的调度规则。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4000" y="5400000"/>
            <a:ext cx="50400" cy="32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6000" y="5382000"/>
            <a:ext cx="230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固定场景同样退化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4000" y="5371200"/>
            <a:ext cx="83052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60 轮后同口径评估低于 BC 基线，说明继续 PPO 反而被高熵样本轻微污染。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5200" y="2592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微软雅黑"/>
              </a:rPr>
              <a:t>原因假设与下一步计划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5200" y="727200"/>
            <a:ext cx="10764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40000" y="338400"/>
            <a:ext cx="37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08080"/>
                </a:solidFill>
                <a:latin typeface="微软雅黑"/>
              </a:rPr>
              <a:t>第四部分 · 结果与存在的问题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00" y="6606000"/>
            <a:ext cx="57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QKD-SAGIN 生产端密钥生成链路调度 · 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9200" y="660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3B3B3"/>
                </a:solidFill>
                <a:latin typeface="微软雅黑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000" y="946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5200" y="917999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三条待验证的假设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" y="1278000"/>
            <a:ext cx="396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321200"/>
            <a:ext cx="380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假设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4000" y="1278000"/>
            <a:ext cx="32400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23200" y="1321200"/>
            <a:ext cx="30816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3999" y="1278000"/>
            <a:ext cx="3625200" cy="3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63199" y="1321200"/>
            <a:ext cx="3466800" cy="27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验证方式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" y="1638000"/>
            <a:ext cx="3960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3200" y="1681200"/>
            <a:ext cx="3801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探索温度过高（1.2 起步）把策略推向高熵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4000" y="1638000"/>
            <a:ext cx="3240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723200" y="1681200"/>
            <a:ext cx="3081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策略熵从 3.33 升到 4.01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3999" y="1638000"/>
            <a:ext cx="36252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63199" y="1681200"/>
            <a:ext cx="34668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降低探索温度后，观察熵与成功率的联合变化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000" y="2178000"/>
            <a:ext cx="3960000" cy="54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3200" y="2221200"/>
            <a:ext cx="3801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PPO 每轮更新量太小，策略学不动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4000" y="2178000"/>
            <a:ext cx="3240000" cy="54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723200" y="2221200"/>
            <a:ext cx="3081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2880 步 ÷ minibatch 1024 ≈ 3 次梯度 / 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3999" y="2178000"/>
            <a:ext cx="3625200" cy="5400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963199" y="2221200"/>
            <a:ext cx="34668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减小 minibatch 或增大 epoch 数，提高每轮更新量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000" y="2718000"/>
            <a:ext cx="3960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3200" y="2761200"/>
            <a:ext cx="3801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BC 起点已接近局部最优，继续 PPO 被高熵样本污染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4000" y="2718000"/>
            <a:ext cx="3240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23200" y="2761200"/>
            <a:ext cx="3081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固定场景 60 轮后同口径评估反低于 BC 基线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3999" y="2718000"/>
            <a:ext cx="36252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963199" y="2761200"/>
            <a:ext cx="34668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降低学习率、加强 KL 约束后同口径复验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4000" y="3340800"/>
            <a:ext cx="50400" cy="1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5200" y="3311999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微软雅黑"/>
              </a:rPr>
              <a:t>下一步计划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" y="3636000"/>
            <a:ext cx="50400" cy="41399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4000" y="3617999"/>
            <a:ext cx="23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① 参数调整与复验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1999" y="3607200"/>
            <a:ext cx="81972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按上表逐项调整训练参数，全部用同口径评估验证，确认是否恢复上升趋势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4000" y="4212000"/>
            <a:ext cx="50400" cy="41399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4000" y="4193999"/>
            <a:ext cx="23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② 训练配置统一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1999" y="4183199"/>
            <a:ext cx="81972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统一 episode_steps 与 rollout_steps 为 360，避免 GAE 在轨迹截断处产生偏差，同时降低算力负担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4000" y="4788000"/>
            <a:ext cx="50400" cy="41399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64000" y="4769999"/>
            <a:ext cx="23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③ 补齐对比基线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1999" y="4759200"/>
            <a:ext cx="81972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完成信道建模部分，并推进与 MILP 全局最优解、启发式上界的定量对比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4000" y="5363999"/>
            <a:ext cx="50400" cy="41399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4000" y="5345999"/>
            <a:ext cx="23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A1A1A"/>
                </a:solidFill>
                <a:latin typeface="微软雅黑"/>
              </a:rPr>
              <a:t>④ 加速训练循环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99" y="5335199"/>
            <a:ext cx="81972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333333"/>
                </a:solidFill>
                <a:latin typeface="微软雅黑"/>
              </a:rPr>
              <a:t>缓存静态图结构、向量化最短路径计算，压缩单轮 rollout-update 的耗时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4000" y="5976000"/>
            <a:ext cx="10825200" cy="576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0000" y="6048000"/>
            <a:ext cx="103932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核心判断：动作层设计已经打通（固定场景可超启发式），剩下的问题是「如何在高熵全局探索下保住已学到的策略」。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4505840" y="4161938"/>
            <a:ext cx="3543300" cy="39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cs typeface="+mn-ea"/>
                <a:sym typeface="+mn-lt"/>
              </a:rPr>
              <a:t>QKD-SAGIN 生产端调度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599773" y="341832"/>
            <a:ext cx="11027450" cy="6072659"/>
          </a:xfrm>
          <a:prstGeom prst="roundRect">
            <a:avLst>
              <a:gd name="adj" fmla="val 12005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708327" y="2292704"/>
            <a:ext cx="3138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组会进展汇报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984665" y="2669123"/>
            <a:ext cx="45856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8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谢谢观看</a:t>
            </a:r>
          </a:p>
        </p:txBody>
      </p:sp>
      <p:sp>
        <p:nvSpPr>
          <p:cNvPr id="32" name="圆角矩形 31"/>
          <p:cNvSpPr/>
          <p:nvPr/>
        </p:nvSpPr>
        <p:spPr>
          <a:xfrm flipV="1">
            <a:off x="-115541" y="-407846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3" name="椭圆 32"/>
          <p:cNvSpPr/>
          <p:nvPr/>
        </p:nvSpPr>
        <p:spPr>
          <a:xfrm flipV="1">
            <a:off x="423127" y="1473120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889914" y="5146184"/>
            <a:ext cx="3937435" cy="2042354"/>
          </a:xfrm>
          <a:prstGeom prst="roundRect">
            <a:avLst>
              <a:gd name="adj" fmla="val 15038"/>
            </a:avLst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1450577" y="4969538"/>
            <a:ext cx="353291" cy="3532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  <p:tag name="KSO_WPP_MARK_KEY" val="e0b31fbc-dd69-4fa4-9e08-ff364e41fd26"/>
  <p:tag name="COMMONDATA" val="eyJoZGlkIjoiYjNkNDYxMmIwNmM5NTY2OTdkODYxNGM2OGY2YmI2OGY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slus3p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slus3p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2059</Words>
  <Application>Microsoft Office PowerPoint</Application>
  <PresentationFormat>宽屏</PresentationFormat>
  <Paragraphs>181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DengXian</vt:lpstr>
      <vt:lpstr>思源黑体</vt:lpstr>
      <vt:lpstr>微软雅黑</vt:lpstr>
      <vt:lpstr>造字工房悦黑体验版纤细体</vt:lpstr>
      <vt:lpstr>Arial</vt:lpstr>
      <vt:lpstr>Times New Roman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QKD-SAGIN 生产端密钥生成链路调度 · 组会进展汇报</dc:title>
  <dc:creator>qkd_rl</dc:creator>
  <cp:keywords>www.1ppt.com</cp:keywords>
  <dc:description>www.1ppt.com</dc:description>
  <cp:lastModifiedBy>Administrator</cp:lastModifiedBy>
  <cp:revision>12</cp:revision>
  <dcterms:created xsi:type="dcterms:W3CDTF">2018-06-17T04:53:00Z</dcterms:created>
  <dcterms:modified xsi:type="dcterms:W3CDTF">2023-07-21T01:25:00Z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DC1139D8EC0C4FDEABA2DBB49A713C4D_12</vt:lpwstr>
  </property>
  <property fmtid="{D5CDD505-2E9C-101B-9397-08002B2CF9AE}" pid="3" name="KSOProductBuildVer">
    <vt:lpwstr>2052-11.1.0.14309</vt:lpwstr>
  </property>
</Properties>
</file>